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1" r:id="rId4"/>
    <p:sldId id="292" r:id="rId6"/>
    <p:sldId id="310"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custDataLst>
              <p:tags r:id="rId1"/>
            </p:custDataLst>
          </p:nvPr>
        </p:nvGraphicFramePr>
        <p:xfrm>
          <a:off x="679450" y="2610485"/>
          <a:ext cx="10187305" cy="2382520"/>
        </p:xfrm>
        <a:graphic>
          <a:graphicData uri="http://schemas.openxmlformats.org/drawingml/2006/table">
            <a:tbl>
              <a:tblPr>
                <a:noFill/>
                <a:tableStyleId>{0AAD8F4D-43EB-41E5-8A38-28AB6DFB1B60}</a:tableStyleId>
              </a:tblPr>
              <a:tblGrid>
                <a:gridCol w="2239010"/>
                <a:gridCol w="2715895"/>
                <a:gridCol w="3992880"/>
                <a:gridCol w="1239520"/>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IN" sz="2000"/>
                        <a:t>VISHMANTHI VAMSHI KRISHNA</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nandukumar9052@gmail.com</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a:t>8919093908</a:t>
                      </a:r>
                      <a:endParaRPr lang="en-IN"/>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521970"/>
          </a:xfrm>
          <a:prstGeom prst="rect">
            <a:avLst/>
          </a:prstGeom>
          <a:noFill/>
        </p:spPr>
        <p:txBody>
          <a:bodyPr wrap="square" rtlCol="0">
            <a:spAutoFit/>
          </a:bodyPr>
          <a:lstStyle/>
          <a:p>
            <a:r>
              <a:rPr lang="en-US" sz="2400" b="1"/>
              <a:t>Domain of  Project – </a:t>
            </a:r>
            <a:r>
              <a:rPr lang="en-US" sz="2800" b="1">
                <a:highlight>
                  <a:srgbClr val="FFFF00"/>
                </a:highlight>
              </a:rPr>
              <a:t>[   Education  </a:t>
            </a:r>
            <a:r>
              <a:rPr lang="en-US" sz="2400" b="1">
                <a:highlight>
                  <a:srgbClr val="FFFF00"/>
                </a:highlight>
              </a:rPr>
              <a:t>]</a:t>
            </a:r>
            <a:endParaRPr lang="en-IN" sz="2400" b="1">
              <a:highlight>
                <a:srgbClr val="FFFF00"/>
              </a:highlight>
            </a:endParaRPr>
          </a:p>
        </p:txBody>
      </p:sp>
      <p:sp>
        <p:nvSpPr>
          <p:cNvPr id="7" name="TextBox 6"/>
          <p:cNvSpPr txBox="1"/>
          <p:nvPr/>
        </p:nvSpPr>
        <p:spPr>
          <a:xfrm>
            <a:off x="1206162" y="551965"/>
            <a:ext cx="9581177" cy="521970"/>
          </a:xfrm>
          <a:prstGeom prst="rect">
            <a:avLst/>
          </a:prstGeom>
          <a:noFill/>
        </p:spPr>
        <p:txBody>
          <a:bodyPr wrap="square" rtlCol="0">
            <a:spAutoFit/>
          </a:bodyPr>
          <a:lstStyle/>
          <a:p>
            <a:r>
              <a:rPr lang="en-US" sz="2400" b="1"/>
              <a:t>Project Tile – </a:t>
            </a:r>
            <a:r>
              <a:rPr lang="en-IN" altLang="en-US" sz="2400" b="1"/>
              <a:t>[</a:t>
            </a:r>
            <a:r>
              <a:rPr lang="en-IN" altLang="en-US" sz="2800" b="1"/>
              <a:t>INTERVIEW TRAINER AGENT</a:t>
            </a:r>
            <a:r>
              <a:rPr lang="en-US" sz="2400" b="1">
                <a:highlight>
                  <a:srgbClr val="FFFF00"/>
                </a:highlight>
              </a:rPr>
              <a:t>]</a:t>
            </a:r>
            <a:endParaRPr lang="en-IN" sz="2400" b="1">
              <a:highlight>
                <a:srgbClr val="FFFF00"/>
              </a:highlight>
            </a:endParaRPr>
          </a:p>
        </p:txBody>
      </p:sp>
      <p:pic>
        <p:nvPicPr>
          <p:cNvPr id="2" name="Picture 1" descr="vs2"/>
          <p:cNvPicPr>
            <a:picLocks noChangeAspect="1"/>
          </p:cNvPicPr>
          <p:nvPr/>
        </p:nvPicPr>
        <p:blipFill>
          <a:blip r:embed="rId2"/>
          <a:stretch>
            <a:fillRect/>
          </a:stretch>
        </p:blipFill>
        <p:spPr>
          <a:xfrm>
            <a:off x="3855085" y="3947160"/>
            <a:ext cx="886460" cy="9429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431800" y="1206500"/>
            <a:ext cx="11005820" cy="6178550"/>
          </a:xfrm>
          <a:prstGeom prst="rect">
            <a:avLst/>
          </a:prstGeom>
          <a:noFill/>
        </p:spPr>
        <p:txBody>
          <a:bodyPr wrap="square" rtlCol="0">
            <a:noAutofit/>
          </a:bodyPr>
          <a:lstStyle/>
          <a:p>
            <a:pPr fontAlgn="base"/>
            <a:r>
              <a:rPr lang="en-US" altLang="en-US" sz="1800" b="1" dirty="0"/>
              <a:t>Problem Statement </a:t>
            </a:r>
            <a:r>
              <a:rPr lang="en-IN" altLang="en-US" sz="1800" b="1" dirty="0"/>
              <a:t> </a:t>
            </a:r>
            <a:r>
              <a:rPr lang="en-US" altLang="en-US" sz="1800" b="1" dirty="0"/>
              <a:t>–</a:t>
            </a:r>
            <a:r>
              <a:rPr lang="en-US" altLang="en-US" sz="1800" dirty="0"/>
              <a:t> Interview Trainer Agent </a:t>
            </a:r>
            <a:endParaRPr lang="en-US" altLang="en-US" sz="1800" dirty="0"/>
          </a:p>
          <a:p>
            <a:pPr fontAlgn="base"/>
            <a:endParaRPr lang="en-US" altLang="en-US" sz="1800" dirty="0"/>
          </a:p>
          <a:p>
            <a:pPr fontAlgn="base"/>
            <a:r>
              <a:rPr lang="en-US" altLang="en-US" sz="1800" b="1" dirty="0"/>
              <a:t>The Challenge </a:t>
            </a:r>
            <a:r>
              <a:rPr lang="en-US" altLang="en-US" sz="1800" dirty="0"/>
              <a:t>– An Interview Trainer Agent, powered by RAG (Retrieval-Augmented Generation), </a:t>
            </a:r>
            <a:endParaRPr lang="en-US" altLang="en-US" sz="1800" dirty="0"/>
          </a:p>
          <a:p>
            <a:pPr fontAlgn="base"/>
            <a:r>
              <a:rPr lang="en-US" altLang="en-US" sz="1800" dirty="0"/>
              <a:t>prepares users for job interviews by generating tailored question sets and preparation strategies based </a:t>
            </a:r>
            <a:endParaRPr lang="en-US" altLang="en-US" sz="1800" dirty="0"/>
          </a:p>
          <a:p>
            <a:pPr fontAlgn="base"/>
            <a:r>
              <a:rPr lang="en-US" altLang="en-US" sz="1800" dirty="0"/>
              <a:t>on their profile name, experience level, and job role.</a:t>
            </a:r>
            <a:endParaRPr lang="en-US" altLang="en-US" sz="1800" dirty="0"/>
          </a:p>
          <a:p>
            <a:pPr fontAlgn="base"/>
            <a:r>
              <a:rPr lang="en-US" altLang="en-US" sz="1800" dirty="0"/>
              <a:t>It retrieves role-specific interview questions, industry expectations, behavioral scenarios, and HR </a:t>
            </a:r>
            <a:endParaRPr lang="en-US" altLang="en-US" sz="1800" dirty="0"/>
          </a:p>
          <a:p>
            <a:pPr fontAlgn="base"/>
            <a:r>
              <a:rPr lang="en-US" altLang="en-US" sz="1800" dirty="0"/>
              <a:t>guidelines from recruitment portals, professional networks, and company interview databases.</a:t>
            </a:r>
            <a:endParaRPr lang="en-US" altLang="en-US" sz="1800" dirty="0"/>
          </a:p>
          <a:p>
            <a:pPr fontAlgn="base"/>
            <a:r>
              <a:rPr lang="en-US" altLang="en-US" sz="1800" dirty="0"/>
              <a:t>Users can input their resume or job title, and the agent provides targeted questions, model answers, </a:t>
            </a:r>
            <a:endParaRPr lang="en-US" altLang="en-US" sz="1800" dirty="0"/>
          </a:p>
          <a:p>
            <a:pPr fontAlgn="base"/>
            <a:r>
              <a:rPr lang="en-US" altLang="en-US" sz="1800" dirty="0"/>
              <a:t>and improvement tips.</a:t>
            </a:r>
            <a:endParaRPr lang="en-US" altLang="en-US" sz="1800" dirty="0"/>
          </a:p>
          <a:p>
            <a:pPr fontAlgn="base"/>
            <a:r>
              <a:rPr lang="en-US" altLang="en-US" sz="1800" dirty="0"/>
              <a:t>It supports both technical and soft skill assessment, ensuring a comprehensive interview prep </a:t>
            </a:r>
            <a:endParaRPr lang="en-US" altLang="en-US" sz="1800" dirty="0"/>
          </a:p>
          <a:p>
            <a:pPr fontAlgn="base"/>
            <a:r>
              <a:rPr lang="en-US" altLang="en-US" sz="1800" dirty="0"/>
              <a:t>experience.</a:t>
            </a:r>
            <a:endParaRPr lang="en-US" altLang="en-US" sz="1800" dirty="0"/>
          </a:p>
          <a:p>
            <a:pPr fontAlgn="base"/>
            <a:r>
              <a:rPr lang="en-US" altLang="en-US" sz="1800" dirty="0"/>
              <a:t>This AI-driven assistant builds user confidence, sharpens responses, and increases success rates in </a:t>
            </a:r>
            <a:endParaRPr lang="en-US" altLang="en-US" sz="1800" dirty="0"/>
          </a:p>
          <a:p>
            <a:pPr fontAlgn="base"/>
            <a:r>
              <a:rPr lang="en-US" altLang="en-US" sz="1800" dirty="0"/>
              <a:t>competitive hiring environments.</a:t>
            </a:r>
            <a:endParaRPr lang="en-US" altLang="en-US" sz="1800" dirty="0"/>
          </a:p>
          <a:p>
            <a:pPr fontAlgn="base"/>
            <a:r>
              <a:rPr lang="en-US" altLang="en-US" sz="1800" dirty="0"/>
              <a:t>Technology – Use of IBM Cloud Lite services / IBM Granite is mandatory.</a:t>
            </a:r>
            <a:endParaRPr lang="en-US" altLang="en-US" sz="1800" dirty="0"/>
          </a:p>
          <a:p>
            <a:pPr fontAlgn="base"/>
            <a:endParaRPr lang="en-US" sz="1800" dirty="0"/>
          </a:p>
          <a:p>
            <a:pPr fontAlgn="base"/>
            <a:endParaRPr lang="en-US" altLang="en-US" sz="1800" dirty="0"/>
          </a:p>
          <a:p>
            <a:pPr fontAlgn="base"/>
            <a:endParaRPr lang="en-US" sz="1800" dirty="0"/>
          </a:p>
          <a:p>
            <a:endParaRPr lang="en-IN" sz="1800" dirty="0"/>
          </a:p>
        </p:txBody>
      </p:sp>
      <p:sp>
        <p:nvSpPr>
          <p:cNvPr id="3" name="TextBox 2"/>
          <p:cNvSpPr txBox="1"/>
          <p:nvPr/>
        </p:nvSpPr>
        <p:spPr>
          <a:xfrm>
            <a:off x="253492" y="9321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2800"/>
              <a:t>The objective</a:t>
            </a:r>
            <a:br>
              <a:rPr lang="en-IN" altLang="en-US" sz="2800"/>
            </a:br>
            <a:endParaRPr lang="en-IN" altLang="en-US" sz="2800"/>
          </a:p>
        </p:txBody>
      </p:sp>
      <p:sp>
        <p:nvSpPr>
          <p:cNvPr id="3" name="Text Placeholder 2"/>
          <p:cNvSpPr>
            <a:spLocks noGrp="1"/>
          </p:cNvSpPr>
          <p:nvPr>
            <p:ph type="body" idx="1"/>
          </p:nvPr>
        </p:nvSpPr>
        <p:spPr>
          <a:xfrm>
            <a:off x="310515" y="1053465"/>
            <a:ext cx="11297285" cy="5224780"/>
          </a:xfrm>
        </p:spPr>
        <p:txBody>
          <a:bodyPr>
            <a:noAutofit/>
          </a:bodyPr>
          <a:p>
            <a:r>
              <a:rPr lang="en-US" altLang="en-US" sz="1400"/>
              <a:t>Build an AI-powered Interview Trainer Agent that delivers personalized mock interview simulations, real-time feedback, and skill coaching for students, job seekers, and software engineering professionals. The solution should:</a:t>
            </a:r>
            <a:endParaRPr lang="en-US" altLang="en-US" sz="1400"/>
          </a:p>
          <a:p>
            <a:endParaRPr lang="en-US" altLang="en-US" sz="1400"/>
          </a:p>
          <a:p>
            <a:r>
              <a:rPr lang="en-US" altLang="en-US" sz="1400"/>
              <a:t>Adaptive Mock Interviews – Generate contextual, role-specific interview questions across multiple tech domains (Software Engineer, Full Stack, DevOps, Data Science, System Design, Product Manager) tailored to the candidate's experience level (Entry, Mid, Senior) and preferred difficulty (Easy, Medium, Hard).</a:t>
            </a:r>
            <a:endParaRPr lang="en-US" altLang="en-US" sz="1400"/>
          </a:p>
          <a:p>
            <a:r>
              <a:rPr lang="en-US" altLang="en-US" sz="1400"/>
              <a:t>Technical Knowledge RAG Retrieval – Fetch and ground interview questions, evaluation criteria, and model answers from a curated technical knowledge base aligned with real-world FAANG and industry hiring rubrics.</a:t>
            </a:r>
            <a:endParaRPr lang="en-US" altLang="en-US" sz="1400"/>
          </a:p>
          <a:p>
            <a:r>
              <a:rPr lang="en-US" altLang="en-US" sz="1400"/>
              <a:t>Real-Time Answer Evaluation &amp; Feedback – Analyze candidate responses submitted via text or voice input, providing instant 1–10 scoring, STAR-method behavioral checks (Situation, Task, Action, Result), and technical depth analysis with actionable improvement tips.</a:t>
            </a:r>
            <a:endParaRPr lang="en-US" altLang="en-US" sz="1400"/>
          </a:p>
          <a:p>
            <a:r>
              <a:rPr lang="en-US" altLang="en-US" sz="1400"/>
              <a:t>Targeted Skill Mastery Focus – Diagnose individual candidate weaknesses in system architecture, data structures, algorithms, and communication clarity to recommend specific follow-up practice areas.</a:t>
            </a:r>
            <a:endParaRPr lang="en-US" altLang="en-US" sz="1400"/>
          </a:p>
          <a:p>
            <a:r>
              <a:rPr lang="en-US" altLang="en-US" sz="1400"/>
              <a:t>Multi-Agent / Modular Architecture –</a:t>
            </a:r>
            <a:endParaRPr lang="en-US" altLang="en-US" sz="1400"/>
          </a:p>
          <a:p>
            <a:r>
              <a:rPr lang="en-US" altLang="en-US" sz="1400"/>
              <a:t>Question Generation Agent: Synthesizes role-tailored technical, coding, and behavioral interview questions powered by IBM Granite 4 (ibm/granite-4-h-small).</a:t>
            </a:r>
            <a:endParaRPr lang="en-US" altLang="en-US" sz="1400"/>
          </a:p>
          <a:p>
            <a:r>
              <a:rPr lang="en-US" altLang="en-US" sz="1400"/>
              <a:t>Answer Evaluation Agent: Real-time evaluation of candidate responses against benchmark criteria, grading depth, communication, and correctness.</a:t>
            </a:r>
            <a:endParaRPr lang="en-US" altLang="en-US" sz="1400"/>
          </a:p>
          <a:p>
            <a:r>
              <a:rPr lang="en-US" altLang="en-US" sz="1400"/>
              <a:t>RAG Knowledge Agent: Retrieves relevant interview topics, best-practice rubrics, and high-scoring reference model answers.</a:t>
            </a:r>
            <a:endParaRPr lang="en-US" altLang="en-US" sz="1400"/>
          </a:p>
          <a:p>
            <a:r>
              <a:rPr lang="en-US" altLang="en-US" sz="1400"/>
              <a:t>Performance &amp; Coaching Agent: Synthesizes comprehensive post-interview feedback reports, calculating letter grades, strengths, weaknesses, and a next-step roadmap.</a:t>
            </a:r>
            <a:endParaRPr lang="en-US" altLang="en-US" sz="1400"/>
          </a:p>
          <a:p>
            <a:r>
              <a:rPr lang="en-US" altLang="en-US" sz="1400"/>
              <a:t>Visualization Dashboard – Present detailed performance analytics including overall session scores, letter grades, multi-dimensional radar competency charts, score history trends, and an interactive question bank.</a:t>
            </a:r>
            <a:endParaRPr lang="en-US"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352552" y="889000"/>
            <a:ext cx="10607040" cy="5446395"/>
          </a:xfrm>
          <a:prstGeom prst="rect">
            <a:avLst/>
          </a:prstGeom>
          <a:noFill/>
        </p:spPr>
        <p:txBody>
          <a:bodyPr wrap="square" rtlCol="0">
            <a:spAutoFit/>
          </a:bodyPr>
          <a:lstStyle/>
          <a:p>
            <a:r>
              <a:rPr lang="en-US" altLang="en-US" sz="1200" b="1"/>
              <a:t>Proposed Solution</a:t>
            </a:r>
            <a:r>
              <a:rPr lang="en-US" altLang="en-US" sz="1200"/>
              <a:t>: AI-Powered Interview Trainer Agent</a:t>
            </a:r>
            <a:endParaRPr lang="en-US" altLang="en-US" sz="1200"/>
          </a:p>
          <a:p>
            <a:r>
              <a:rPr lang="en-US" altLang="en-US" sz="1200"/>
              <a:t>The </a:t>
            </a:r>
            <a:r>
              <a:rPr lang="en-US" altLang="en-US" sz="1200"/>
              <a:t>proposed solution is a multi-agent AI-powered Interview Trainer Agent built using IBM watsonx.ai, IBM watsonx Orchestrate, and IBM Granite 4 Models (ibm/granite-4-h-small) to provide personalized, real-time mock interview practice and coaching. The system addresses common challenges such as interview anxiety, expensive human coaching, and vague feedback through an intelligent, modular architecture.</a:t>
            </a:r>
            <a:endParaRPr lang="en-US" altLang="en-US" sz="1200"/>
          </a:p>
          <a:p>
            <a:endParaRPr lang="en-US" altLang="en-US" sz="1200"/>
          </a:p>
          <a:p>
            <a:r>
              <a:rPr lang="en-US" altLang="en-US" sz="1200"/>
              <a:t>At its core, the solution uses a Retrieval-Augmented Generation (RAG) pipeline to fetch accurate interview rubrics, technical questions, and industry standards across various engineering disciplines. This domain knowledge allows the system to ground question generation, evaluate answers against real-world benchmarks, and retrieve reference model answers using Granite models.</a:t>
            </a:r>
            <a:endParaRPr lang="en-US" altLang="en-US" sz="1200"/>
          </a:p>
          <a:p>
            <a:endParaRPr lang="en-US" altLang="en-US" sz="1200"/>
          </a:p>
          <a:p>
            <a:r>
              <a:rPr lang="en-US" altLang="en-US" sz="1200" b="1" i="1"/>
              <a:t>The system consists of four key agents:</a:t>
            </a:r>
            <a:endParaRPr lang="en-US" altLang="en-US" sz="1200" b="1" i="1"/>
          </a:p>
          <a:p>
            <a:endParaRPr lang="en-US" altLang="en-US" sz="1200"/>
          </a:p>
          <a:p>
            <a:r>
              <a:rPr lang="en-US" altLang="en-US" sz="1200" b="1"/>
              <a:t>Question Generation Agent</a:t>
            </a:r>
            <a:r>
              <a:rPr lang="en-US" altLang="en-US" sz="1200"/>
              <a:t>: Generates adaptive, role-specific technical, behavioral, and system design questions tailored to candidate seniority (Entry, Mid, Senior) and chosen difficulty (Easy, Medium, Hard).</a:t>
            </a:r>
            <a:endParaRPr lang="en-US" altLang="en-US" sz="1200"/>
          </a:p>
          <a:p>
            <a:r>
              <a:rPr lang="en-US" altLang="en-US" sz="1200" b="1"/>
              <a:t>Answer Evaluation Agent</a:t>
            </a:r>
            <a:r>
              <a:rPr lang="en-US" altLang="en-US" sz="1200"/>
              <a:t>: Evaluates user answers submitted via text or speech-to-text in real time on a 1–10 scale, validating technical accuracy, depth, and STAR-method adherence (Situation, Task, Action, Result).</a:t>
            </a:r>
            <a:endParaRPr lang="en-US" altLang="en-US" sz="1200"/>
          </a:p>
          <a:p>
            <a:r>
              <a:rPr lang="en-US" altLang="en-US" sz="1200" b="1"/>
              <a:t>RAG Knowledge Agent</a:t>
            </a:r>
            <a:r>
              <a:rPr lang="en-US" altLang="en-US" sz="1200"/>
              <a:t>: Retrieves relevant concepts, hiring criteria, and high-scoring reference model answers from the curated technical knowledge base.</a:t>
            </a:r>
            <a:endParaRPr lang="en-US" altLang="en-US" sz="1200"/>
          </a:p>
          <a:p>
            <a:r>
              <a:rPr lang="en-US" altLang="en-US" sz="1200" b="1"/>
              <a:t>Performance &amp; Coaching Agent</a:t>
            </a:r>
            <a:r>
              <a:rPr lang="en-US" altLang="en-US" sz="1200"/>
              <a:t>: Compiles comprehensive diagnostic reports, computing letter grades (A+, A, B, C), identifying strengths and knowledge gaps, and generating personalized improvement roadmaps.</a:t>
            </a:r>
            <a:endParaRPr lang="en-US" altLang="en-US" sz="1200"/>
          </a:p>
          <a:p>
            <a:r>
              <a:rPr lang="en-US" altLang="en-US" sz="1200"/>
              <a:t>The solution includes a modern, dark-mode dashboard (built with React and Tailwind CSS) backed by a Flask REST API that visualizes overall session scores, multi-dimensional competency radar charts, score history trends, and an interactive question bank.</a:t>
            </a:r>
            <a:endParaRPr lang="en-US" altLang="en-US" sz="1200"/>
          </a:p>
          <a:p>
            <a:endParaRPr lang="en-US" altLang="en-US" sz="1200"/>
          </a:p>
          <a:p>
            <a:r>
              <a:rPr lang="en-US" altLang="en-US" sz="1200"/>
              <a:t>IBM watsonx Orchestrate is used to coordinate agent workflows and tool execution, while watsonx.ai ensures scalable model inference and AI governance. IBM Granite 4 powers question synthesis, critical answer scoring, and feedback generation.</a:t>
            </a:r>
            <a:endParaRPr lang="en-US" altLang="en-US" sz="1200"/>
          </a:p>
          <a:p>
            <a:endParaRPr lang="en-US" altLang="en-US" sz="1200"/>
          </a:p>
          <a:p>
            <a:r>
              <a:rPr lang="en-US" altLang="en-US" sz="1200"/>
              <a:t>Overall, this solution delivers an end-to-end intelligent interview coach that empowers candidates to build confidence, sharpen technical communication, and successfully crack competitive technical interviews.</a:t>
            </a:r>
            <a:endParaRPr lang="en-US" altLang="en-US" sz="1200"/>
          </a:p>
          <a:p>
            <a:endParaRPr lang="en-US" altLang="en-US" sz="1200"/>
          </a:p>
          <a:p>
            <a:endParaRPr lang="en-US" altLang="en-US" sz="1200"/>
          </a:p>
        </p:txBody>
      </p:sp>
      <p:sp>
        <p:nvSpPr>
          <p:cNvPr id="3" name="TextBox 2"/>
          <p:cNvSpPr txBox="1"/>
          <p:nvPr/>
        </p:nvSpPr>
        <p:spPr>
          <a:xfrm>
            <a:off x="352552" y="328168"/>
            <a:ext cx="7214616" cy="46037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421640" y="946023"/>
            <a:ext cx="10515600" cy="6185535"/>
          </a:xfrm>
          <a:prstGeom prst="rect">
            <a:avLst/>
          </a:prstGeom>
          <a:noFill/>
        </p:spPr>
        <p:txBody>
          <a:bodyPr wrap="square" rtlCol="0">
            <a:spAutoFit/>
          </a:bodyPr>
          <a:lstStyle/>
          <a:p>
            <a:r>
              <a:rPr lang="en-US" altLang="en-US" sz="1800" b="1"/>
              <a:t>IBM Bob / watsonx Orchestrate Platform </a:t>
            </a:r>
            <a:r>
              <a:rPr lang="en-US" altLang="en-US" sz="1800"/>
              <a:t>– For designing, coordinating, and orchestrating multi-agent interview workflows, tool calling, and structured evaluation processes.</a:t>
            </a:r>
            <a:endParaRPr lang="en-US" altLang="en-US" sz="1800"/>
          </a:p>
          <a:p>
            <a:r>
              <a:rPr lang="en-US" altLang="en-US" sz="1800" b="1"/>
              <a:t>IBM Granite Model (ibm/granite-4-h-small) </a:t>
            </a:r>
            <a:r>
              <a:rPr lang="en-US" altLang="en-US" sz="1800"/>
              <a:t>– For natural language understanding, dynamic question generation, multi-criteria reasoning, answer evaluation, and personalized coaching feedback.</a:t>
            </a:r>
            <a:endParaRPr lang="en-US" altLang="en-US" sz="1800"/>
          </a:p>
          <a:p>
            <a:r>
              <a:rPr lang="en-US" altLang="en-US" sz="1800"/>
              <a:t>IBM Cloud – It provides the infrastructure, IAM authentication, and enterprise security to build, deploy, and scale the Interview Trainer Agent reliably and efficiently.</a:t>
            </a:r>
            <a:endParaRPr lang="en-US" altLang="en-US" sz="1800"/>
          </a:p>
          <a:p>
            <a:r>
              <a:rPr lang="en-US" altLang="en-US" sz="1800" b="1"/>
              <a:t>IBM watsonx.ai</a:t>
            </a:r>
            <a:r>
              <a:rPr lang="en-US" altLang="en-US" sz="1800"/>
              <a:t> – For high-speed LLM deployment, REST/Chat API inference, prompt orchestration, and enterprise AI governance.</a:t>
            </a:r>
            <a:endParaRPr lang="en-US" altLang="en-US" sz="1800"/>
          </a:p>
          <a:p>
            <a:r>
              <a:rPr lang="en-US" altLang="en-US" sz="1800" b="1"/>
              <a:t>RAG (Retrieval-Augmented Generation) </a:t>
            </a:r>
            <a:r>
              <a:rPr lang="en-US" altLang="en-US" sz="1800"/>
              <a:t>– To fetch real-world technical interview questions, industry hiring rubrics, and model answers first, then generate intelligent evaluations, making the Interview Trainer Agent grounded, accurate, and trustworthy.</a:t>
            </a:r>
            <a:endParaRPr lang="en-US" altLang="en-US" sz="1800"/>
          </a:p>
          <a:p>
            <a:r>
              <a:rPr lang="en-US" altLang="en-US" sz="1800" b="1"/>
              <a:t>Vector / Domain Knowledge Base </a:t>
            </a:r>
            <a:r>
              <a:rPr lang="en-US" altLang="en-US" sz="1800"/>
              <a:t>– For RAG-based role-specific question retrieval, topic indexing, and semantic matching across technical domains (Software Engineering, System Design, DevOps, Data Science, etc.).</a:t>
            </a:r>
            <a:endParaRPr lang="en-US" altLang="en-US" sz="1800"/>
          </a:p>
          <a:p>
            <a:r>
              <a:rPr lang="en-US" altLang="en-US" sz="1800" b="1"/>
              <a:t>Frontend (React.js + Tailwind CSS + Lucide Icons) </a:t>
            </a:r>
            <a:r>
              <a:rPr lang="en-US" altLang="en-US" sz="1800"/>
              <a:t>– For delivering a responsive, dark-mode dashboard with real-time interview chat room, speech-to-text voice input, and visual performance charts.</a:t>
            </a:r>
            <a:endParaRPr lang="en-US" altLang="en-US" sz="1800"/>
          </a:p>
          <a:p>
            <a:r>
              <a:rPr lang="en-US" altLang="en-US" sz="1800" b="1"/>
              <a:t>Backend (Python Flask + SQLAlchemy + Gunicorn) </a:t>
            </a:r>
            <a:r>
              <a:rPr lang="en-US" altLang="en-US" sz="1800"/>
              <a:t>– For serving secure REST APIs, JWT user authentication, session data persistence, and connecting frontend clients to the watsonx.ai engine.</a:t>
            </a:r>
            <a:endParaRPr lang="en-US" altLang="en-US" sz="1800"/>
          </a:p>
          <a:p>
            <a:r>
              <a:rPr lang="en-US" altLang="en-US" sz="1800"/>
              <a:t>Docker &amp; Cloud Deployment (Render / Cloud Run) – Multi-stage containerization enabling 24/7 global hosting and seamless continuous deployment.</a:t>
            </a:r>
            <a:endParaRPr lang="en-US" altLang="en-US" sz="1800"/>
          </a:p>
          <a:p>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537687" y="1059402"/>
            <a:ext cx="8823960" cy="2306955"/>
          </a:xfrm>
          <a:prstGeom prst="rect">
            <a:avLst/>
          </a:prstGeom>
          <a:noFill/>
        </p:spPr>
        <p:txBody>
          <a:bodyPr wrap="square" rtlCol="0">
            <a:spAutoFit/>
          </a:bodyPr>
          <a:lstStyle/>
          <a:p>
            <a:pPr marL="0" indent="0">
              <a:buFont typeface="+mj-lt"/>
              <a:buNone/>
            </a:pPr>
            <a:endParaRPr lang="en-US" sz="1800"/>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descr="Screenshot 2026-09-05 143345"/>
          <p:cNvPicPr>
            <a:picLocks noChangeAspect="1"/>
          </p:cNvPicPr>
          <p:nvPr/>
        </p:nvPicPr>
        <p:blipFill>
          <a:blip r:embed="rId1"/>
          <a:stretch>
            <a:fillRect/>
          </a:stretch>
        </p:blipFill>
        <p:spPr>
          <a:xfrm>
            <a:off x="473075" y="897255"/>
            <a:ext cx="10748645" cy="51809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4" name="Picture 3" descr="Screenshot 2026-09-05 154130"/>
          <p:cNvPicPr>
            <a:picLocks noChangeAspect="1"/>
          </p:cNvPicPr>
          <p:nvPr/>
        </p:nvPicPr>
        <p:blipFill>
          <a:blip r:embed="rId1"/>
          <a:stretch>
            <a:fillRect/>
          </a:stretch>
        </p:blipFill>
        <p:spPr>
          <a:xfrm>
            <a:off x="1260475" y="1076325"/>
            <a:ext cx="9751060" cy="5443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9-09 143315"/>
          <p:cNvPicPr>
            <a:picLocks noChangeAspect="1"/>
          </p:cNvPicPr>
          <p:nvPr/>
        </p:nvPicPr>
        <p:blipFill>
          <a:blip r:embed="rId1"/>
          <a:stretch>
            <a:fillRect/>
          </a:stretch>
        </p:blipFill>
        <p:spPr>
          <a:xfrm>
            <a:off x="758190" y="136525"/>
            <a:ext cx="10480675" cy="62439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4" name="Picture 3" descr="High level Overview"/>
          <p:cNvPicPr>
            <a:picLocks noChangeAspect="1"/>
          </p:cNvPicPr>
          <p:nvPr/>
        </p:nvPicPr>
        <p:blipFill>
          <a:blip r:embed="rId1"/>
          <a:stretch>
            <a:fillRect/>
          </a:stretch>
        </p:blipFill>
        <p:spPr>
          <a:xfrm>
            <a:off x="647700" y="908685"/>
            <a:ext cx="5227320" cy="3371215"/>
          </a:xfrm>
          <a:prstGeom prst="rect">
            <a:avLst/>
          </a:prstGeom>
        </p:spPr>
      </p:pic>
      <p:pic>
        <p:nvPicPr>
          <p:cNvPr id="7" name="Picture 6" descr="RAG Architecture"/>
          <p:cNvPicPr>
            <a:picLocks noChangeAspect="1"/>
          </p:cNvPicPr>
          <p:nvPr/>
        </p:nvPicPr>
        <p:blipFill>
          <a:blip r:embed="rId2"/>
          <a:stretch>
            <a:fillRect/>
          </a:stretch>
        </p:blipFill>
        <p:spPr>
          <a:xfrm>
            <a:off x="6141720" y="908685"/>
            <a:ext cx="5353050" cy="2947035"/>
          </a:xfrm>
          <a:prstGeom prst="rect">
            <a:avLst/>
          </a:prstGeom>
        </p:spPr>
      </p:pic>
      <p:pic>
        <p:nvPicPr>
          <p:cNvPr id="8" name="Picture 7" descr="Data and Request flow"/>
          <p:cNvPicPr>
            <a:picLocks noChangeAspect="1"/>
          </p:cNvPicPr>
          <p:nvPr/>
        </p:nvPicPr>
        <p:blipFill>
          <a:blip r:embed="rId3"/>
          <a:stretch>
            <a:fillRect/>
          </a:stretch>
        </p:blipFill>
        <p:spPr>
          <a:xfrm>
            <a:off x="2644140" y="4736465"/>
            <a:ext cx="7825740" cy="1608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665" y="1167765"/>
            <a:ext cx="7538720" cy="4522470"/>
          </a:xfrm>
          <a:prstGeom prst="rect">
            <a:avLst/>
          </a:prstGeom>
          <a:noFill/>
        </p:spPr>
        <p:txBody>
          <a:bodyPr wrap="square" rtlCol="0">
            <a:noAutofit/>
          </a:bodyPr>
          <a:lstStyle/>
          <a:p>
            <a:r>
              <a:rPr lang="en-US" altLang="en-US" sz="1600" b="1"/>
              <a:t>The Role of Agentic AI in the Interview Trainer Agent</a:t>
            </a:r>
            <a:r>
              <a:rPr lang="en-US" altLang="en-US" sz="1600"/>
              <a:t>: Unlike traditional passive chatbots that merely answer isolated questions, Agentic AI acts as an autonomous, proactive interviewer that independently manages the full lifecycle of a mock interview. Powered by</a:t>
            </a:r>
            <a:r>
              <a:rPr lang="en-US" altLang="en-US" sz="1600" b="1" i="1"/>
              <a:t> IBM Granite 4</a:t>
            </a:r>
            <a:r>
              <a:rPr lang="en-US" altLang="en-US" sz="1600"/>
              <a:t> and orchestrated via </a:t>
            </a:r>
            <a:r>
              <a:rPr lang="en-US" altLang="en-US" sz="1600" b="1" i="1"/>
              <a:t>IBM watsonx Orchestrate / Bob,</a:t>
            </a:r>
            <a:r>
              <a:rPr lang="en-US" altLang="en-US" sz="1600"/>
              <a:t> the agentic system autonomously coordinates specialized sub-agents—dynamically generating role-specific questions, </a:t>
            </a:r>
            <a:r>
              <a:rPr lang="en-US" altLang="en-US" sz="1600" b="1" i="1"/>
              <a:t>retrieving industry rubrics through RAG</a:t>
            </a:r>
            <a:r>
              <a:rPr lang="en-US" altLang="en-US" sz="1600"/>
              <a:t>, executing specialized evaluation tools, and synthesizing comprehensive performance reports. It maintains continuous state and context across multi-turn conversations, dynamically adapting question difficulty to the candidate's performance while rigorously evaluating answers against technical correctness and the behavioral STAR method (Situation, Task, Action, Result). By combining goal-driven decision-making, automated tool calling, and objective multi-criteria scoring, </a:t>
            </a:r>
            <a:r>
              <a:rPr lang="en-US" altLang="en-US" sz="1600" b="1" i="1"/>
              <a:t>Agentic AI transforms routine interview prep into an intelligent</a:t>
            </a:r>
            <a:r>
              <a:rPr lang="en-US" altLang="en-US" sz="1600"/>
              <a:t>, personalized, and realistic hiring simulation that delivers actionable coaching and measurable skill progression.</a:t>
            </a:r>
            <a:endParaRPr lang="en-US"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11,761 token are used</a:t>
            </a:r>
            <a:endParaRPr lang="en-US"/>
          </a:p>
        </p:txBody>
      </p:sp>
      <p:pic>
        <p:nvPicPr>
          <p:cNvPr id="12" name="Picture 11" descr="A screenshot of a computer&#10;&#10;AI-generated content may be incorrect."/>
          <p:cNvPicPr>
            <a:picLocks noChangeAspect="1"/>
          </p:cNvPicPr>
          <p:nvPr/>
        </p:nvPicPr>
        <p:blipFill>
          <a:blip r:embed="rId1"/>
          <a:stretch>
            <a:fillRect/>
          </a:stretch>
        </p:blipFill>
        <p:spPr>
          <a:xfrm>
            <a:off x="535245" y="2407872"/>
            <a:ext cx="5095875" cy="2857500"/>
          </a:xfrm>
          <a:prstGeom prst="rect">
            <a:avLst/>
          </a:prstGeom>
        </p:spPr>
      </p:pic>
      <p:pic>
        <p:nvPicPr>
          <p:cNvPr id="13" name="Picture 12" descr="A screenshot of a computer&#10;&#10;AI-generated content may be incorrect."/>
          <p:cNvPicPr>
            <a:picLocks noChangeAspect="1"/>
          </p:cNvPicPr>
          <p:nvPr/>
        </p:nvPicPr>
        <p:blipFill>
          <a:blip r:embed="rId2"/>
          <a:stretch>
            <a:fillRect/>
          </a:stretch>
        </p:blipFill>
        <p:spPr>
          <a:xfrm>
            <a:off x="6159601" y="2451181"/>
            <a:ext cx="5724525" cy="2857500"/>
          </a:xfrm>
          <a:prstGeom prst="rect">
            <a:avLst/>
          </a:prstGeom>
        </p:spPr>
      </p:pic>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endParaRPr lang="en-US" sz="2000" u="sng"/>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endParaRPr lang="en-US" sz="2000" u="sn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6" name="Picture 5" descr="Screenshot 2026-09-06 214745"/>
          <p:cNvPicPr>
            <a:picLocks noChangeAspect="1"/>
          </p:cNvPicPr>
          <p:nvPr/>
        </p:nvPicPr>
        <p:blipFill>
          <a:blip r:embed="rId1"/>
          <a:stretch>
            <a:fillRect/>
          </a:stretch>
        </p:blipFill>
        <p:spPr>
          <a:xfrm>
            <a:off x="480060" y="725805"/>
            <a:ext cx="10972800" cy="56680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3" name="Picture 2" descr="Screenshot 2026-09-06 215650"/>
          <p:cNvPicPr>
            <a:picLocks noChangeAspect="1"/>
          </p:cNvPicPr>
          <p:nvPr/>
        </p:nvPicPr>
        <p:blipFill>
          <a:blip r:embed="rId1"/>
          <a:stretch>
            <a:fillRect/>
          </a:stretch>
        </p:blipFill>
        <p:spPr>
          <a:xfrm>
            <a:off x="551180" y="730250"/>
            <a:ext cx="10885170" cy="57219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endParaRPr lang="en-US" sz="2000">
              <a:solidFill>
                <a:srgbClr val="FF0000"/>
              </a:solidFill>
            </a:endParaRPr>
          </a:p>
          <a:p>
            <a:r>
              <a:rPr lang="en-US" sz="2000">
                <a:solidFill>
                  <a:srgbClr val="FF0000"/>
                </a:solidFill>
              </a:rPr>
              <a:t>You can take 2-3 more slides for each screenshot</a:t>
            </a:r>
            <a:endParaRPr lang="en-IN" sz="2000">
              <a:solidFill>
                <a:srgbClr val="FF0000"/>
              </a:solidFill>
            </a:endParaRPr>
          </a:p>
        </p:txBody>
      </p:sp>
      <p:pic>
        <p:nvPicPr>
          <p:cNvPr id="3" name="Picture 2" descr="Screenshot 2026-09-06 220704"/>
          <p:cNvPicPr>
            <a:picLocks noChangeAspect="1"/>
          </p:cNvPicPr>
          <p:nvPr/>
        </p:nvPicPr>
        <p:blipFill>
          <a:blip r:embed="rId1"/>
          <a:stretch>
            <a:fillRect/>
          </a:stretch>
        </p:blipFill>
        <p:spPr>
          <a:xfrm>
            <a:off x="609600" y="927735"/>
            <a:ext cx="10678795" cy="55562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464185"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464185" y="1291590"/>
            <a:ext cx="11727815" cy="5123180"/>
          </a:xfrm>
          <a:prstGeom prst="rect">
            <a:avLst/>
          </a:prstGeom>
          <a:noFill/>
        </p:spPr>
        <p:txBody>
          <a:bodyPr wrap="square" rtlCol="0">
            <a:noAutofit/>
          </a:bodyPr>
          <a:lstStyle/>
          <a:p>
            <a:r>
              <a:rPr lang="en-US" altLang="en-US" b="1"/>
              <a:t>The proposed Interview Trainer Agent stands out by combining Agentic AI, RAG, and multi-criteria evaluation into a single intelligent system:</a:t>
            </a:r>
            <a:endParaRPr lang="en-US" altLang="en-US" b="1"/>
          </a:p>
          <a:p>
            <a:endParaRPr lang="en-US" altLang="en-US" b="1"/>
          </a:p>
          <a:p>
            <a:r>
              <a:rPr lang="en-US" altLang="en-US" b="1"/>
              <a:t>Multi-Agent Intelligence</a:t>
            </a:r>
            <a:r>
              <a:rPr lang="en-US" altLang="en-US"/>
              <a:t> – Instead of a single chatbot, multiple specialized agents (Question Generation, RAG Retrieval, Answer Evaluation, and Performance Coaching) collaborate to deliver structured, context-aware interview simulations.</a:t>
            </a:r>
            <a:endParaRPr lang="en-US" altLang="en-US"/>
          </a:p>
          <a:p>
            <a:r>
              <a:rPr lang="en-US" altLang="en-US" b="1"/>
              <a:t>RAG-Based Accuracy </a:t>
            </a:r>
            <a:r>
              <a:rPr lang="en-US" altLang="en-US"/>
              <a:t>– Integrates a curated technical knowledge base with AI generation, eliminating hallucinations and grounding questions, criteria, and model answers in real-world FAANG and industry hiring rubrics.</a:t>
            </a:r>
            <a:endParaRPr lang="en-US" altLang="en-US"/>
          </a:p>
          <a:p>
            <a:r>
              <a:rPr lang="en-US" altLang="en-US" b="1"/>
              <a:t>Adaptive Personalization </a:t>
            </a:r>
            <a:r>
              <a:rPr lang="en-US" altLang="en-US"/>
              <a:t>– Tailors interview scenarios, topics, and difficulty levels (Easy, Medium, Hard) dynamically based on the candidate's target job role and seniority level.</a:t>
            </a:r>
            <a:endParaRPr lang="en-US" altLang="en-US"/>
          </a:p>
          <a:p>
            <a:r>
              <a:rPr lang="en-US" altLang="en-US" b="1"/>
              <a:t>Dual-Dimension Evaluation </a:t>
            </a:r>
            <a:r>
              <a:rPr lang="en-US" altLang="en-US"/>
              <a:t>– Evaluates both technical architecture/problem-solving depth and behavioral STAR-method compliance (Situation, Task, Action, Result) for complete interview readiness.</a:t>
            </a:r>
            <a:endParaRPr lang="en-US" altLang="en-US"/>
          </a:p>
          <a:p>
            <a:r>
              <a:rPr lang="en-US" altLang="en-US" b="1"/>
              <a:t>Real-Time Feedback Loop </a:t>
            </a:r>
            <a:r>
              <a:rPr lang="en-US" altLang="en-US"/>
              <a:t>– Delivers instant 1–10 scoring, granular critique, and high-quality model answers immediately after each response to accelerate learning.</a:t>
            </a:r>
            <a:endParaRPr lang="en-US" altLang="en-US"/>
          </a:p>
          <a:p>
            <a:r>
              <a:rPr lang="en-US" altLang="en-US" b="1"/>
              <a:t>Multi-Modal Interaction </a:t>
            </a:r>
            <a:r>
              <a:rPr lang="en-US" altLang="en-US"/>
              <a:t>– Supports browser-based speech-to-text voice input alongside text, emulating real verbal interview environments and building speaking confidence under pressure.</a:t>
            </a:r>
            <a:endParaRPr lang="en-US" altLang="en-US"/>
          </a:p>
          <a:p>
            <a:r>
              <a:rPr lang="en-US" altLang="en-US" b="1"/>
              <a:t>360° Diagnostic Analytics </a:t>
            </a:r>
            <a:r>
              <a:rPr lang="en-US" altLang="en-US"/>
              <a:t>– Automatically synthesizes session performance into letter grades (A+, A, B, C), multi-dimensional competency radar charts, strengths/weaknesses matrices, and actionable improvement roadmaps.</a:t>
            </a:r>
            <a:endParaRPr lang="en-US" altLang="en-US"/>
          </a:p>
          <a:p>
            <a:r>
              <a:rPr lang="en-US" altLang="en-US" b="1"/>
              <a:t>Scalable &amp; Enterprise-Ready </a:t>
            </a:r>
            <a:r>
              <a:rPr lang="en-US" altLang="en-US"/>
              <a:t>– Built on IBM watsonx.ai with IBM Granite 4 models (ibm/granite-4-h-small) and IBM watsonx Orchestrate, ensuring high-speed inference, data security, and enterprise AI governance.</a:t>
            </a:r>
            <a:endParaRPr lang="en-US" altLang="en-US"/>
          </a:p>
          <a:p>
            <a:r>
              <a:rPr lang="en-US" altLang="en-US"/>
              <a:t>This makes the solution a smart, adaptive, and proactive digital interview coach, not just a static question bank or generic chatbot.</a:t>
            </a:r>
            <a:endParaRPr lang="en-US" altLang="en-US"/>
          </a:p>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IN" altLang="en-US" sz="185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Github URL : </a:t>
            </a:r>
            <a:r>
              <a:rPr lang="en-US" sz="185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https://github.com/Nandu9052</a:t>
            </a:r>
            <a:endPar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385604" y="8544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385604" y="789280"/>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Live Video, Facial &amp; Body Language Analysis</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IN"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can be integrated with computer vision and audio analytics via the user's webcam and microphone to track eye contact, facial expressions, posture, speaking pace, and filler word frequency (e.g., "um", "like"). This will enable the Interview Trainer Agent to provide holistic feedback on executive presence, communication delivery, and confidence under pressure.</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IN" altLang="en-US" sz="1850" b="1"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r>
              <a:rPr lang="en-US" altLang="en-US" sz="1850" b="1" i="1"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AI-Powered Voice Assistant &amp; Multilingual Support </a:t>
            </a:r>
            <a:r>
              <a:rPr lang="en-IN" altLang="en-US" sz="1850" b="1">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Expanding the system with natural bidirectional speech-to-speech conversation and support for multiple international and regional languages will improve global accessibility. Candidates can practice verbal technical interviews in their native or preferred language</a:t>
            </a:r>
            <a:r>
              <a:rPr lang="en-I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4. Resume &amp; Job Description (JD) Company-Specific Matching</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IN" altLang="en-US" sz="1850" b="1">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Enabling automated PDF parsing of candidate resumes alongside specific company job descriptions (e.g., Google SWE, Amazon SDE, Meta Product Manager) will allow the agent to generate hyper-personalized interview rounds mirroring the exact hiring rubrics and question patterns of target employers.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Please  add your </a:t>
            </a:r>
            <a:r>
              <a:rPr lang="en-US" sz="2400" b="1" dirty="0" err="1"/>
              <a:t>credly</a:t>
            </a:r>
            <a:r>
              <a:rPr lang="en-US" sz="2400" b="1" dirty="0"/>
              <a:t> certificate(Getting Started with Artificial Intelligence)  </a:t>
            </a:r>
            <a:endParaRPr lang="en-US" sz="2400" b="1" dirty="0"/>
          </a:p>
        </p:txBody>
      </p:sp>
      <p:pic>
        <p:nvPicPr>
          <p:cNvPr id="4" name="Picture 3" descr="Screenshot 2026-09-06 222315"/>
          <p:cNvPicPr>
            <a:picLocks noChangeAspect="1"/>
          </p:cNvPicPr>
          <p:nvPr/>
        </p:nvPicPr>
        <p:blipFill>
          <a:blip r:embed="rId1"/>
          <a:stretch>
            <a:fillRect/>
          </a:stretch>
        </p:blipFill>
        <p:spPr>
          <a:xfrm>
            <a:off x="1944370" y="1251585"/>
            <a:ext cx="7064375" cy="53968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descr="Screenshot 2026-09-06 222504"/>
          <p:cNvPicPr>
            <a:picLocks noChangeAspect="1"/>
          </p:cNvPicPr>
          <p:nvPr/>
        </p:nvPicPr>
        <p:blipFill>
          <a:blip r:embed="rId1"/>
          <a:stretch>
            <a:fillRect/>
          </a:stretch>
        </p:blipFill>
        <p:spPr>
          <a:xfrm>
            <a:off x="626110" y="1292225"/>
            <a:ext cx="8562975" cy="52743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802*187"/>
  <p:tag name="TABLE_ENDDRAG_RECT" val="102*204*802*187"/>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12484</Words>
  <Application>WPS Presentation</Application>
  <PresentationFormat>Widescreen</PresentationFormat>
  <Paragraphs>212</Paragraphs>
  <Slides>21</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Nandu Kumar</cp:lastModifiedBy>
  <cp:revision>17</cp:revision>
  <dcterms:created xsi:type="dcterms:W3CDTF">2025-07-08T05:06:00Z</dcterms:created>
  <dcterms:modified xsi:type="dcterms:W3CDTF">2026-09-09T09:58:07Z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E810505ECAF34E0A98324232723BFF02_13</vt:lpwstr>
  </property>
</Properties>
</file>